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A7A3"/>
                </a:solidFill>
              </a:rPr>
              <a:t>BILLSYNC LEGAL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Capture every billable effort before it disappears.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58368" y="2514600"/>
            <a:ext cx="6583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4DAE2"/>
                </a:solidFill>
              </a:rPr>
              <a:t>A fresh product analysis for an Indian law-firm billing system: Gmail capture, research time, legal work meter, meeting/call capture, and court hearing self-metering.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C98A1D"/>
                </a:solidFill>
              </a:rPr>
              <a:t>20-40%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4507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8"/>
                </a:solidFill>
              </a:rPr>
              <a:t>manual billing leakage hypothesis to validate in pilots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92608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A7A3"/>
                </a:solidFill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4507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8"/>
                </a:solidFill>
              </a:rPr>
              <a:t>capture surfaces on one activity ledger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6636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BC4FF"/>
                </a:solidFill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66360" y="4507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8"/>
                </a:solidFill>
              </a:rPr>
              <a:t>approval-to-invoice revenue spine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58200" y="777240"/>
            <a:ext cx="3063240" cy="4983480"/>
          </a:xfrm>
          <a:prstGeom prst="rect">
            <a:avLst/>
          </a:prstGeom>
          <a:solidFill>
            <a:srgbClr val="102E4F">
              <a:alpha val="88000"/>
            </a:srgbClr>
          </a:solidFill>
          <a:ln w="12700">
            <a:solidFill>
              <a:srgbClr val="3054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14300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7385D"/>
          </a:solidFill>
          <a:ln w="5080">
            <a:solidFill>
              <a:srgbClr val="4269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984" y="124358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Gmail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1856232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426D"/>
          </a:solidFill>
          <a:ln w="5080">
            <a:solidFill>
              <a:srgbClr val="4269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15984" y="195681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Research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2569464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7385D"/>
          </a:solidFill>
          <a:ln w="5080">
            <a:solidFill>
              <a:srgbClr val="4269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15984" y="26700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Documents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23960" y="3282696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426D"/>
          </a:solidFill>
          <a:ln w="5080">
            <a:solidFill>
              <a:srgbClr val="4269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5984" y="33832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Meetings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399592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7385D"/>
          </a:solidFill>
          <a:ln w="5080">
            <a:solidFill>
              <a:srgbClr val="4269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5984" y="409651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Calls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470916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426D"/>
          </a:solidFill>
          <a:ln w="5080">
            <a:solidFill>
              <a:srgbClr val="4269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48097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Court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63550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DBD"/>
                </a:solidFill>
              </a:rPr>
              <a:t>Investor + CTO demo deck | June 6,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Lawyers do the work, then later reconstruct the bill.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00784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Fragmented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029968"/>
            <a:ext cx="2871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Client value happens in short bursts across email, research, documents, meetings, calls, hearings, and admin follow-up.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00784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Delayed entry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2029968"/>
            <a:ext cx="2871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When billing waits until evening or week-end, small tasks get forgotten, shortened, block-billed, or described vaguely.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275320" y="155448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700784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Revenue leakage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39912" y="2029968"/>
            <a:ext cx="2871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Lost effort becomes lower WIP, weaker realization, delayed invoices, and partner/admin friction.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977640" y="2084832"/>
            <a:ext cx="320040" cy="457200"/>
          </a:xfrm>
          <a:prstGeom prst="chevron">
            <a:avLst/>
          </a:prstGeom>
          <a:solidFill>
            <a:srgbClr val="C98A1D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084832"/>
            <a:ext cx="320040" cy="457200"/>
          </a:xfrm>
          <a:prstGeom prst="chevron">
            <a:avLst/>
          </a:prstGeom>
          <a:solidFill>
            <a:srgbClr val="C98A1D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2545"/>
                </a:solidFill>
              </a:rPr>
              <a:t>BillSync wedge: capture the evidence when work happens, then let humans approve what becomes billable.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02920" y="61447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D8792"/>
                </a:solidFill>
              </a:rPr>
              <a:t>Sources: Existing BillSync PRD/SRS; CosmoLex time tracking guide; ISBA timekeeping and billing systems paper.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 has ERPs and billing tools, but the capture layer is still open.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093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RazorLex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938528"/>
            <a:ext cx="30083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8"/>
                </a:solidFill>
              </a:rPr>
              <a:t>Enterprise practice suite; billing, time, finance, documents, CRM.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093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Provakil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938528"/>
            <a:ext cx="30083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8"/>
                </a:solidFill>
              </a:rPr>
              <a:t>Litigation and practice workspace with case updates, tasks, clients, billing.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83880" y="14630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6093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eLawOffice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1938528"/>
            <a:ext cx="30083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8"/>
                </a:solidFill>
              </a:rPr>
              <a:t>India-first ERP: cases, hearings, billing, HR, payroll, TDS, DPDP signals.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4381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Bilr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3767328"/>
            <a:ext cx="30083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8"/>
                </a:solidFill>
              </a:rPr>
              <a:t>AI billing and time recording; LEDES, multi-currency, Tally-ready.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434840" y="32918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4381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Manupatra/MyKase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99432" y="3767328"/>
            <a:ext cx="30083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8"/>
                </a:solidFill>
              </a:rPr>
              <a:t>Trusted research plus case tracking, documents, tasks, billing portal.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183880" y="32918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8472" y="343814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TimeSolv / PracticePanther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48472" y="3767328"/>
            <a:ext cx="30083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6B78"/>
                </a:solidFill>
              </a:rPr>
              <a:t>Global validation for missed-time recovery and legal billing automation.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6868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D78"/>
                </a:solidFill>
              </a:rPr>
              <a:t>BillSync should not pitch as another all-in-one ERP. Pitch as the upstream effort-capture fabric that can feed billing, ERP, CRM, and accounting.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61447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D8792"/>
                </a:solidFill>
              </a:rPr>
              <a:t>Sources: RazorLex, Provakil, eLawOffice, Bilr, Manupatra, TimeSolv, PracticePanther official product pages.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BillSync becomes the legal activity ledger between work and invoice.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2E74B5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78608" y="2029968"/>
            <a:ext cx="310896" cy="393192"/>
          </a:xfrm>
          <a:prstGeom prst="chevron">
            <a:avLst/>
          </a:prstGeom>
          <a:solidFill>
            <a:srgbClr val="C98A1D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8288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Classify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18888" y="2029968"/>
            <a:ext cx="310896" cy="393192"/>
          </a:xfrm>
          <a:prstGeom prst="chevron">
            <a:avLst/>
          </a:prstGeom>
          <a:solidFill>
            <a:srgbClr val="C98A1D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8288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Approve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59168" y="2029968"/>
            <a:ext cx="310896" cy="393192"/>
          </a:xfrm>
          <a:prstGeom prst="chevron">
            <a:avLst/>
          </a:prstGeom>
          <a:solidFill>
            <a:srgbClr val="C98A1D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8288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Invoice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99448" y="2029968"/>
            <a:ext cx="310896" cy="393192"/>
          </a:xfrm>
          <a:prstGeom prst="chevron">
            <a:avLst/>
          </a:prstGeom>
          <a:solidFill>
            <a:srgbClr val="C98A1D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18288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2E7D51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2368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337560"/>
            <a:ext cx="9966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0B2545"/>
                </a:solidFill>
              </a:rPr>
              <a:t>Draft activity candidates are created from legal work signals.</a:t>
            </a:r>
            <a:endParaRPr lang="en-US" sz="1300" dirty="0"/>
          </a:p>
          <a:p>
            <a:r>
              <a:rPr lang="en-US" sz="1300" dirty="0">
                <a:solidFill>
                  <a:srgbClr val="0B2545"/>
                </a:solidFill>
              </a:rPr>
              <a:t>AI drafts narratives, but the lawyer and partner remain in control.</a:t>
            </a:r>
            <a:endParaRPr lang="en-US" sz="1300" dirty="0"/>
          </a:p>
          <a:p>
            <a:r>
              <a:rPr lang="en-US" sz="1300" dirty="0">
                <a:solidFill>
                  <a:srgbClr val="0B2545"/>
                </a:solidFill>
              </a:rPr>
              <a:t>Approved work flows into billables, invoices, WIP, AR, utilization, and realization analytics.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1447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D8792"/>
                </a:solidFill>
              </a:rPr>
              <a:t>Source: Existing BillSync PRD/SRS, June 6 2026.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work surfaces feed one approval-ready activity ledger.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126480" y="3520440"/>
            <a:ext cx="0" cy="-1691640"/>
          </a:xfrm>
          <a:prstGeom prst="line">
            <a:avLst/>
          </a:prstGeom>
          <a:noFill/>
          <a:ln w="13970">
            <a:solidFill>
              <a:srgbClr val="D9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144475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6672" y="159105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Gmail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6672" y="192024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typing duration + metadata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3520440"/>
            <a:ext cx="2573654" cy="-845820"/>
          </a:xfrm>
          <a:prstGeom prst="line">
            <a:avLst/>
          </a:prstGeom>
          <a:noFill/>
          <a:ln w="13970">
            <a:solidFill>
              <a:srgbClr val="D9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5734" y="229057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0326" y="24368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0326" y="276606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URL, notes, elapsed minutes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2573654" cy="845820"/>
          </a:xfrm>
          <a:prstGeom prst="line">
            <a:avLst/>
          </a:prstGeom>
          <a:noFill/>
          <a:ln w="13970">
            <a:solidFill>
              <a:srgbClr val="D9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5734" y="398221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0326" y="41285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Meter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0326" y="44577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matter-linked effort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26480" y="3520440"/>
            <a:ext cx="0" cy="1691640"/>
          </a:xfrm>
          <a:prstGeom prst="line">
            <a:avLst/>
          </a:prstGeom>
          <a:noFill/>
          <a:ln w="13970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482803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497433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Docs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530352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drafting/review sessions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3520440"/>
            <a:ext cx="-2573654" cy="845820"/>
          </a:xfrm>
          <a:prstGeom prst="line">
            <a:avLst/>
          </a:prstGeom>
          <a:noFill/>
          <a:ln w="13970">
            <a:solidFill>
              <a:srgbClr val="D9E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8426" y="398221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3018" y="41285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Meetings &amp; calls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03018" y="44577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duration, transcript summary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26480" y="3520440"/>
            <a:ext cx="-2573654" cy="-845820"/>
          </a:xfrm>
          <a:prstGeom prst="line">
            <a:avLst/>
          </a:prstGeom>
          <a:noFill/>
          <a:ln w="13970">
            <a:solidFill>
              <a:srgbClr val="D9E0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8426" y="229057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03018" y="24368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Court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03018" y="276606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hearing wait/appearance/outcome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92040" y="2697480"/>
            <a:ext cx="2468880" cy="14173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0358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Activity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Ledger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Competitors manage time; BillSync recovers effort before time is entered.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05740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819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Dimension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384048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81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Typical ERP / billing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452628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8191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BillSync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057400"/>
            <a:ext cx="20574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85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5E6B78"/>
                </a:solidFill>
              </a:rPr>
              <a:t>Workflow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743200" y="2057400"/>
            <a:ext cx="38404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185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8"/>
                </a:solidFill>
              </a:rPr>
              <a:t>Timesheets and invoices after user entry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583680" y="2057400"/>
            <a:ext cx="4526280" cy="640080"/>
          </a:xfrm>
          <a:prstGeom prst="rect">
            <a:avLst/>
          </a:prstGeom>
          <a:solidFill>
            <a:srgbClr val="EEF8F7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854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545"/>
                </a:solidFill>
              </a:rPr>
              <a:t>Source capture before memory decay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20574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825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5E6B78"/>
                </a:solidFill>
              </a:rPr>
              <a:t>Coverage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2743200" y="2697480"/>
            <a:ext cx="38404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825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8"/>
                </a:solidFill>
              </a:rPr>
              <a:t>Matter, timer, task, invoice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583680" y="2697480"/>
            <a:ext cx="4526280" cy="640080"/>
          </a:xfrm>
          <a:prstGeom prst="rect">
            <a:avLst/>
          </a:prstGeom>
          <a:solidFill>
            <a:srgbClr val="EEF8F7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8254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545"/>
                </a:solidFill>
              </a:rPr>
              <a:t>Email, research, docs, meter, meetings, calls, court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85800" y="3337560"/>
            <a:ext cx="20574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4655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5E6B78"/>
                </a:solidFill>
              </a:rPr>
              <a:t>Trust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743200" y="3337560"/>
            <a:ext cx="38404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8"/>
                </a:solidFill>
              </a:rPr>
              <a:t>Manual notes or broad monitoring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583680" y="3337560"/>
            <a:ext cx="4526280" cy="640080"/>
          </a:xfrm>
          <a:prstGeom prst="rect">
            <a:avLst/>
          </a:prstGeom>
          <a:solidFill>
            <a:srgbClr val="EEF8F7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46557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545"/>
                </a:solidFill>
              </a:rPr>
              <a:t>Consent-first, evidence-backed draft entries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685800" y="3977640"/>
            <a:ext cx="20574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1056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5E6B78"/>
                </a:solidFill>
              </a:rPr>
              <a:t>AI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2743200" y="3977640"/>
            <a:ext cx="38404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8"/>
                </a:solidFill>
              </a:rPr>
              <a:t>Search, drafting, billing checks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583680" y="3977640"/>
            <a:ext cx="4526280" cy="640080"/>
          </a:xfrm>
          <a:prstGeom prst="rect">
            <a:avLst/>
          </a:prstGeom>
          <a:solidFill>
            <a:srgbClr val="EEF8F7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1056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545"/>
                </a:solidFill>
              </a:rPr>
              <a:t>Narrative, classification, leakage detection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85800" y="4617720"/>
            <a:ext cx="20574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745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5E6B78"/>
                </a:solidFill>
              </a:rPr>
              <a:t>India fit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2743200" y="4617720"/>
            <a:ext cx="38404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4745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8"/>
                </a:solidFill>
              </a:rPr>
              <a:t>Some strong, some global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583680" y="4617720"/>
            <a:ext cx="4526280" cy="640080"/>
          </a:xfrm>
          <a:prstGeom prst="rect">
            <a:avLst/>
          </a:prstGeom>
          <a:solidFill>
            <a:srgbClr val="EEF8F7"/>
          </a:solidFill>
          <a:ln w="7620">
            <a:solidFill>
              <a:srgbClr val="D9E0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7457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545"/>
                </a:solidFill>
              </a:rPr>
              <a:t>Indian matters, hearings, approvals, GST/TDS/Tally path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must feel like professional proof, not workplace surveillance.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636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74B5"/>
                </a:solidFill>
              </a:rPr>
              <a:t>Borrow from Hubstaff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892808"/>
            <a:ext cx="30083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Activity concepts: start/stop, idle time, app/URL categories, activity evidence, optional screenshots, and productivity reporting.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636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23B3B"/>
                </a:solidFill>
              </a:rPr>
              <a:t>Reject generic monitoring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892808"/>
            <a:ext cx="30083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No hidden tracking. No screenshots by default. No email body capture by default. No automatic invoicing from raw telemetry.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636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7D51"/>
                </a:solidFill>
              </a:rPr>
              <a:t>Legal-grade 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1892808"/>
            <a:ext cx="30083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Visible consent, matter context, content opt-in, RBAC, audit log, retention policy, redaction, approval, and client-ready narratives.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02920" y="61447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D8792"/>
                </a:solidFill>
              </a:rPr>
              <a:t>Sources: Hubstaff activity/time tracker support; Microsoft Teams recording/transcription guidance; eLawOffice DPDP/security positioning.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lawyer day becomes approved invoice-ready work.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756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53312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Login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2157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E6B78"/>
                </a:solidFill>
              </a:rPr>
              <a:t>role-aware dashboard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267712" y="2203704"/>
            <a:ext cx="502920" cy="0"/>
          </a:xfrm>
          <a:prstGeom prst="line">
            <a:avLst/>
          </a:prstGeom>
          <a:noFill/>
          <a:ln w="17780">
            <a:solidFill>
              <a:srgbClr val="C98A1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14600" y="1920240"/>
            <a:ext cx="566928" cy="566928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0756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7832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Matter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27832" y="2157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E6B78"/>
                </a:solidFill>
              </a:rPr>
              <a:t>select client/matter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142232" y="2203704"/>
            <a:ext cx="502920" cy="0"/>
          </a:xfrm>
          <a:prstGeom prst="line">
            <a:avLst/>
          </a:prstGeom>
          <a:noFill/>
          <a:ln w="17780">
            <a:solidFill>
              <a:srgbClr val="C98A1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89120" y="1920240"/>
            <a:ext cx="566928" cy="566928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0756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Capture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02352" y="2157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E6B78"/>
                </a:solidFill>
              </a:rPr>
              <a:t>Gmail + research + meter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016752" y="2203704"/>
            <a:ext cx="502920" cy="0"/>
          </a:xfrm>
          <a:prstGeom prst="line">
            <a:avLst/>
          </a:prstGeom>
          <a:noFill/>
          <a:ln w="17780">
            <a:solidFill>
              <a:srgbClr val="C98A1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1920240"/>
            <a:ext cx="566928" cy="566928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0756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76872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AI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76872" y="2157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E6B78"/>
                </a:solidFill>
              </a:rPr>
              <a:t>draft narrative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891272" y="2203704"/>
            <a:ext cx="502920" cy="0"/>
          </a:xfrm>
          <a:prstGeom prst="line">
            <a:avLst/>
          </a:prstGeom>
          <a:noFill/>
          <a:ln w="17780">
            <a:solidFill>
              <a:srgbClr val="C98A1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38160" y="1920240"/>
            <a:ext cx="566928" cy="566928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0756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51392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Review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51392" y="2157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E6B78"/>
                </a:solidFill>
              </a:rPr>
              <a:t>submit and approve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9765792" y="2203704"/>
            <a:ext cx="502920" cy="0"/>
          </a:xfrm>
          <a:prstGeom prst="line">
            <a:avLst/>
          </a:prstGeom>
          <a:noFill/>
          <a:ln w="17780">
            <a:solidFill>
              <a:srgbClr val="C98A1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12680" y="1920240"/>
            <a:ext cx="566928" cy="566928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12680" y="20756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725912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Invoice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25912" y="2157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E6B78"/>
                </a:solidFill>
              </a:rPr>
              <a:t>draft bill + analytics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43000" y="3886200"/>
            <a:ext cx="9829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D78"/>
                </a:solidFill>
              </a:rPr>
              <a:t>Investor sees revenue recovery. CTO sees an event ledger, conversion services, policy gates, and clean APIs.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focus: stable capture events, policy gates, and billing conversion.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55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Chrome Extension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198424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Gmail + browser research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11810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Web / Desktop Meter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344728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manual + activity tracking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58114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Meeting / Court Modules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consent + self-meter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2011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15798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Capture 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62272" y="248716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idempotency, retry, auth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2011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215798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Activity Ledger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39712" y="248716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source, matter, duration, audit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2011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215798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Billing Engine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17152" y="248716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rates, approvals, invoices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41605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7152" y="43068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Analytics + Integrations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17152" y="463600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6B78"/>
                </a:solidFill>
              </a:rPr>
              <a:t>WIP, AR, Zoho, Tally path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34640" y="1965960"/>
            <a:ext cx="1325880" cy="502920"/>
          </a:xfrm>
          <a:prstGeom prst="line">
            <a:avLst/>
          </a:prstGeom>
          <a:noFill/>
          <a:ln w="15240">
            <a:solidFill>
              <a:srgbClr val="C98A1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834640" y="3429000"/>
            <a:ext cx="1325880" cy="-685800"/>
          </a:xfrm>
          <a:prstGeom prst="line">
            <a:avLst/>
          </a:prstGeom>
          <a:noFill/>
          <a:ln w="15240">
            <a:solidFill>
              <a:srgbClr val="C98A1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34640" y="4892040"/>
            <a:ext cx="1325880" cy="-2148840"/>
          </a:xfrm>
          <a:prstGeom prst="line">
            <a:avLst/>
          </a:prstGeom>
          <a:noFill/>
          <a:ln w="15240">
            <a:solidFill>
              <a:srgbClr val="C98A1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0" y="2450592"/>
            <a:ext cx="228600" cy="0"/>
          </a:xfrm>
          <a:prstGeom prst="line">
            <a:avLst/>
          </a:prstGeom>
          <a:noFill/>
          <a:ln w="15240">
            <a:solidFill>
              <a:srgbClr val="C98A1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96528" y="2450592"/>
            <a:ext cx="228600" cy="0"/>
          </a:xfrm>
          <a:prstGeom prst="line">
            <a:avLst/>
          </a:prstGeom>
          <a:noFill/>
          <a:ln w="15240">
            <a:solidFill>
              <a:srgbClr val="C98A1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04120" y="2880360"/>
            <a:ext cx="0" cy="1078992"/>
          </a:xfrm>
          <a:prstGeom prst="line">
            <a:avLst/>
          </a:prstGeom>
          <a:noFill/>
          <a:ln w="15240">
            <a:solidFill>
              <a:srgbClr val="C98A1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capture fabric in controlled layers.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1572768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3317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EEF8F7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4780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28072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Demo hardening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terminology, statuses, invoice path, audit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1572768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3317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EEF8F7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4780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33472" y="28072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Capture reliability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extension queue, idempotency, evidence panel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34840" y="2011680"/>
            <a:ext cx="1572768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3317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4780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28072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Legal meter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matter-led desktop/web activity logging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1572768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317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4780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28072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Meeting/call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consent, transcript, summary, retention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8183880" y="2011680"/>
            <a:ext cx="1572768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23317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24780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57032" y="28072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Court mode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self-meter, hearing segments, outcome notes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10058400" y="2011680"/>
            <a:ext cx="1572768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66960" y="23317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1552" y="24780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P5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131552" y="280720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Accounting grade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E6B78"/>
                </a:solidFill>
              </a:rPr>
              <a:t>minor units, GST/TDS, Tally/Zoho Books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96012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23B3B"/>
                </a:solidFill>
              </a:rPr>
              <a:t>Near-term rule: do not expand capture surfaces faster than approval, privacy, audit, and invoice accuracy can support.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commercial wedge is recovered revenue, then operating intelligence.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11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6362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Seat SaaS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892808"/>
            <a:ext cx="27797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Per lawyer / associate / intern seat with core capture, time entries, approvals, and billing dashboards.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56362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Premium capture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1892808"/>
            <a:ext cx="27797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Meeting/call recording, desktop meter, advanced AI narratives, compliance pack, and audit exports.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56362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39912" y="1892808"/>
            <a:ext cx="27797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Zoho, Tally, GST/TDS, payment collection, document storage, and client portals as expansion paths.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14300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51"/>
                </a:solidFill>
              </a:rPr>
              <a:t>ROI story: if a lawyer bills even a fraction of previously missed time, the seat pays for itself quickly.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BA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the pilot scope that proves leakage recovery with trust.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6428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6B78"/>
                </a:solidFill>
              </a:rPr>
              <a:t>BillSync Legal | 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62179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0B2545"/>
                </a:solidFill>
              </a:rPr>
              <a:t>Run 4-6 law-firm pilots across litigation, corporate, and mixed practices.</a:t>
            </a:r>
            <a:endParaRPr lang="en-US" sz="1300" dirty="0"/>
          </a:p>
          <a:p>
            <a:r>
              <a:rPr lang="en-US" sz="1300" dirty="0">
                <a:solidFill>
                  <a:srgbClr val="0B2545"/>
                </a:solidFill>
              </a:rPr>
              <a:t>Measure captured effort, submitted time, approved time, invoiced value, write-downs, and realization.</a:t>
            </a:r>
            <a:endParaRPr lang="en-US" sz="1300" dirty="0"/>
          </a:p>
          <a:p>
            <a:r>
              <a:rPr lang="en-US" sz="1300" dirty="0">
                <a:solidFill>
                  <a:srgbClr val="0B2545"/>
                </a:solidFill>
              </a:rPr>
              <a:t>Ship capture reliability, source evidence, permissions, audit logs, and invoice accuracy before broad monitoring.</a:t>
            </a:r>
            <a:endParaRPr lang="en-US" sz="1300" dirty="0"/>
          </a:p>
          <a:p>
            <a:r>
              <a:rPr lang="en-US" sz="1300" dirty="0">
                <a:solidFill>
                  <a:srgbClr val="0B2545"/>
                </a:solidFill>
              </a:rPr>
              <a:t>Use the investor demo to sell one outcome: lawyers get appreciated and paid for the real effort given to a client.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08392" y="165506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74B5"/>
                </a:solidFill>
              </a:rPr>
              <a:t>CTO focus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08392" y="1984248"/>
            <a:ext cx="314553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Event schema, idempotency, permission matrix, policy engine, transcript/recording service boundaries, audit log, money precision.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543800" y="388620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403250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7D51"/>
                </a:solidFill>
              </a:rPr>
              <a:t>Investor focus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08392" y="4361688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8"/>
                </a:solidFill>
              </a:rPr>
              <a:t>Revenue recovery wedge, India-specific workflow, expansion into ERP/accounting integrations, defensible activity data.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02920" y="61447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D8792"/>
                </a:solidFill>
              </a:rPr>
              <a:t>Prepared from BillSync PRD/SRS and current product-market research as of June 6, 2026.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BillSync Legal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BillSync Legal: Capture Every Billable Effort</dc:title>
  <dc:subject>BillSync Legal investor and CTO product demo deck</dc:subject>
  <dc:creator>Codex / Senior Product Manager</dc:creator>
  <cp:lastModifiedBy>Codex / Senior Product Manager</cp:lastModifiedBy>
  <cp:revision>1</cp:revision>
  <dcterms:created xsi:type="dcterms:W3CDTF">2026-06-06T10:37:52Z</dcterms:created>
  <dcterms:modified xsi:type="dcterms:W3CDTF">2026-06-06T10:37:52Z</dcterms:modified>
</cp:coreProperties>
</file>